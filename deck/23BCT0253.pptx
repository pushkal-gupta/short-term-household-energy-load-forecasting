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18120" y="1051560"/>
            <a:ext cx="3749039" cy="4206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766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EEF4FA"/>
                </a:solidFill>
                <a:latin typeface="Trebuchet MS"/>
              </a:rPr>
              <a:t>Short-Term Household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EEF4FA"/>
                </a:solidFill>
                <a:latin typeface="Trebuchet MS"/>
              </a:rPr>
              <a:t>Energy Load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54096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46BEAA"/>
                </a:solidFill>
                <a:latin typeface="Trebuchet MS"/>
              </a:rPr>
              <a:t>Using Federated LSTM Across Smart 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675887"/>
            <a:ext cx="731520" cy="32004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9502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F4FA"/>
                </a:solidFill>
                <a:latin typeface="Trebuchet MS"/>
              </a:rPr>
              <a:t>Pushkal Gupta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2452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4B5C6"/>
                </a:solidFill>
                <a:latin typeface="Trebuchet MS"/>
              </a:rPr>
              <a:t>23BCT0253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95020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F4FA"/>
                </a:solidFill>
                <a:latin typeface="Trebuchet MS"/>
              </a:rPr>
              <a:t>Kaushik Vanka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22452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4B5C6"/>
                </a:solidFill>
                <a:latin typeface="Trebuchet MS"/>
              </a:rPr>
              <a:t>23BCT0136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9204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6889E"/>
                </a:solidFill>
                <a:latin typeface="Trebuchet MS"/>
              </a:rPr>
              <a:t>BCSE316L — Design of Smart Cities  ·  Review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3898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6BEAA"/>
                </a:solidFill>
                <a:latin typeface="Trebuchet MS"/>
              </a:rPr>
              <a:t>Review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12848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CITY IN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323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London, UK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816352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COMPARISON CITIES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0358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Amsterdam · Copenhagen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419856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CORE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3931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Federated LSTM (FedAvg)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023360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ALTERNATIVE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2428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FedProx for non-IID clients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62686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463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27 papers, 2022–2026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330952" cy="331012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5330952" cy="50292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6BEAA"/>
                </a:solidFill>
                <a:latin typeface="Trebuchet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1284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EF4FA"/>
                </a:solidFill>
                <a:latin typeface="Trebuchet MS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603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6889E"/>
                </a:solidFill>
                <a:latin typeface="Trebuchet MS"/>
              </a:rPr>
              <a:t>Slides 3–9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980944"/>
            <a:ext cx="4690872" cy="10972"/>
          </a:xfrm>
          <a:prstGeom prst="rect">
            <a:avLst/>
          </a:prstGeom>
          <a:solidFill>
            <a:srgbClr val="253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1100"/>
              </a:spcAft>
            </a:pPr>
            <a:r>
              <a:rPr sz="12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00">
                <a:solidFill>
                  <a:srgbClr val="EEF4FA"/>
                </a:solidFill>
                <a:latin typeface="Trebuchet MS"/>
              </a:rPr>
              <a:t>1.1  Topic and context</a:t>
            </a:r>
          </a:p>
          <a:p>
            <a:pPr marL="182880" indent="-182880">
              <a:lnSpc>
                <a:spcPct val="112000"/>
              </a:lnSpc>
              <a:spcAft>
                <a:spcPts val="1100"/>
              </a:spcAft>
            </a:pPr>
            <a:r>
              <a:rPr sz="12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00">
                <a:solidFill>
                  <a:srgbClr val="EEF4FA"/>
                </a:solidFill>
                <a:latin typeface="Trebuchet MS"/>
              </a:rPr>
              <a:t>1.2  Strengths and weaknesses of the city</a:t>
            </a:r>
          </a:p>
          <a:p>
            <a:pPr marL="182880" indent="-182880">
              <a:lnSpc>
                <a:spcPct val="112000"/>
              </a:lnSpc>
              <a:spcAft>
                <a:spcPts val="1100"/>
              </a:spcAft>
            </a:pPr>
            <a:r>
              <a:rPr sz="12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00">
                <a:solidFill>
                  <a:srgbClr val="EEF4FA"/>
                </a:solidFill>
                <a:latin typeface="Trebuchet MS"/>
              </a:rPr>
              <a:t>1.3  Aim and objectives</a:t>
            </a:r>
          </a:p>
          <a:p>
            <a:pPr marL="182880" indent="-182880">
              <a:lnSpc>
                <a:spcPct val="112000"/>
              </a:lnSpc>
              <a:spcAft>
                <a:spcPts val="1100"/>
              </a:spcAft>
            </a:pPr>
            <a:r>
              <a:rPr sz="12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00">
                <a:solidFill>
                  <a:srgbClr val="EEF4FA"/>
                </a:solidFill>
                <a:latin typeface="Trebuchet MS"/>
              </a:rPr>
              <a:t>1.4  Scope and limitations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330952" cy="331012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5330952" cy="50292"/>
          </a:xfrm>
          <a:prstGeom prst="rect">
            <a:avLst/>
          </a:prstGeom>
          <a:solidFill>
            <a:srgbClr val="E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21408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0A050"/>
                </a:solidFill>
                <a:latin typeface="Trebuchet M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21284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EF4FA"/>
                </a:solidFill>
                <a:latin typeface="Trebuchet MS"/>
              </a:rPr>
              <a:t>Contextual background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56032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6889E"/>
                </a:solidFill>
                <a:latin typeface="Trebuchet MS"/>
              </a:rPr>
              <a:t>Slides 10–24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980944"/>
            <a:ext cx="4690872" cy="10972"/>
          </a:xfrm>
          <a:prstGeom prst="rect">
            <a:avLst/>
          </a:prstGeom>
          <a:solidFill>
            <a:srgbClr val="253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18688"/>
            <a:ext cx="46634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1100"/>
              </a:spcAft>
            </a:pPr>
            <a:r>
              <a:rPr sz="120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200">
                <a:solidFill>
                  <a:srgbClr val="EEF4FA"/>
                </a:solidFill>
                <a:latin typeface="Trebuchet MS"/>
              </a:rPr>
              <a:t>2.1  Conceptual framework / research design</a:t>
            </a:r>
          </a:p>
          <a:p>
            <a:pPr marL="182880" indent="-182880">
              <a:lnSpc>
                <a:spcPct val="112000"/>
              </a:lnSpc>
              <a:spcAft>
                <a:spcPts val="1100"/>
              </a:spcAft>
            </a:pPr>
            <a:r>
              <a:rPr sz="120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200">
                <a:solidFill>
                  <a:srgbClr val="EEF4FA"/>
                </a:solidFill>
                <a:latin typeface="Trebuchet MS"/>
              </a:rPr>
              <a:t>2.2  Proposed idea</a:t>
            </a:r>
          </a:p>
          <a:p>
            <a:pPr marL="182880" indent="-182880">
              <a:lnSpc>
                <a:spcPct val="112000"/>
              </a:lnSpc>
              <a:spcAft>
                <a:spcPts val="1100"/>
              </a:spcAft>
            </a:pPr>
            <a:r>
              <a:rPr sz="120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200">
                <a:solidFill>
                  <a:srgbClr val="EEF4FA"/>
                </a:solidFill>
                <a:latin typeface="Trebuchet MS"/>
              </a:rPr>
              <a:t>2.3  Literature survey (27 articles)</a:t>
            </a:r>
          </a:p>
          <a:p>
            <a:pPr marL="182880" indent="-182880">
              <a:lnSpc>
                <a:spcPct val="112000"/>
              </a:lnSpc>
              <a:spcAft>
                <a:spcPts val="1100"/>
              </a:spcAft>
            </a:pPr>
            <a:r>
              <a:rPr sz="120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200">
                <a:solidFill>
                  <a:srgbClr val="EEF4FA"/>
                </a:solidFill>
                <a:latin typeface="Trebuchet MS"/>
              </a:rPr>
              <a:t>2.4  Key features, challenges, benefits</a:t>
            </a:r>
          </a:p>
          <a:p>
            <a:pPr marL="182880" indent="-182880">
              <a:lnSpc>
                <a:spcPct val="112000"/>
              </a:lnSpc>
              <a:spcAft>
                <a:spcPts val="1100"/>
              </a:spcAft>
            </a:pPr>
            <a:r>
              <a:rPr sz="120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200">
                <a:solidFill>
                  <a:srgbClr val="EEF4FA"/>
                </a:solidFill>
                <a:latin typeface="Trebuchet MS"/>
              </a:rPr>
              <a:t>2.5  Data collection and organisation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321808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6889E"/>
                </a:solidFill>
                <a:latin typeface="Trebuchet MS"/>
              </a:rPr>
              <a:t>Closing slides — evaluation plan, expected outcomes and references.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1A283C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0428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BEAA"/>
                </a:solidFill>
                <a:latin typeface="Trebuchet M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24912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EF4FA"/>
                </a:solidFill>
                <a:latin typeface="Trebuchet MS"/>
              </a:rPr>
              <a:t>Introduction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039112" y="3931920"/>
            <a:ext cx="822960" cy="32004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224528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50">
                <a:solidFill>
                  <a:srgbClr val="A4B5C6"/>
                </a:solidFill>
                <a:latin typeface="Trebuchet MS"/>
              </a:rPr>
              <a:t>Topic and context — what the project forecasts and where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50">
                <a:solidFill>
                  <a:srgbClr val="A4B5C6"/>
                </a:solidFill>
                <a:latin typeface="Trebuchet MS"/>
              </a:rPr>
              <a:t>Strengths and weaknesses of the city — London, Amsterdam, Copenhagen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50">
                <a:solidFill>
                  <a:srgbClr val="A4B5C6"/>
                </a:solidFill>
                <a:latin typeface="Trebuchet MS"/>
              </a:rPr>
              <a:t>Aim and objectives — one aim, four measurable objectives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50">
                <a:solidFill>
                  <a:srgbClr val="A4B5C6"/>
                </a:solidFill>
                <a:latin typeface="Trebuchet MS"/>
              </a:rPr>
              <a:t>Scope and limitations — what a one-semester project can honestly deliver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1.1  TOPIC AND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What the project forecasts, and 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A smart-meter data problem, a machine-learning problem and a data-governance problem at the same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6903720" cy="210312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993391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THE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63093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EEF4FA"/>
                </a:solidFill>
                <a:latin typeface="Trebuchet MS"/>
              </a:rPr>
              <a:t>Predict the short-term electricity demand of an individual household — the next half-hour to next 24 hours of consumption — by training a shared LSTM across many smart meters, so that the raw consumption record never leaves the home gateway.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737360"/>
            <a:ext cx="3822191" cy="210312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92440" y="199339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SDG LINKAGE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340864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SDG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359152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4B5C6"/>
                </a:solidFill>
                <a:latin typeface="Trebuchet MS"/>
              </a:rPr>
              <a:t>Affordable &amp; clean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81635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SDG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834640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4B5C6"/>
                </a:solidFill>
                <a:latin typeface="Trebuchet MS"/>
              </a:rPr>
              <a:t>Sustainable cities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291840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SDG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310128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4B5C6"/>
                </a:solidFill>
                <a:latin typeface="Trebuchet MS"/>
              </a:rPr>
              <a:t>Responsible consumption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41648"/>
            <a:ext cx="3502152" cy="178308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94360" y="4041648"/>
            <a:ext cx="50292" cy="178308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79392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THE SETTING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26864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A dense urban distribution network in which every home has a smart meter. Each meter is a data owner, not a row in one database.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041648"/>
            <a:ext cx="3502152" cy="178308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297680" y="4041648"/>
            <a:ext cx="50292" cy="178308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279392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WHY IT MATTERS 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26864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Half-hourly demand data drives peak-load planning, time-of-use tariffs and flexibility markets — and EV and heat-pump uptake is sharpening the evening peak.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4041648"/>
            <a:ext cx="3502152" cy="178308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001000" y="4041648"/>
            <a:ext cx="50292" cy="178308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279392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THE OBSTACLE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626864"/>
            <a:ext cx="3017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Fine-grained traces reveal occupancy and routine, so consent rules and GDPR data-minimisation limit how much can be pooled centrally.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1.1  TOPIC AND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Why this is a smart-city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Four forces meet in the same place — and they pull against each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2606040" cy="26060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6BEAA"/>
                </a:solidFill>
                <a:latin typeface="Trebuchet MS"/>
              </a:rPr>
              <a:t>ENERGY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6BEAA"/>
                </a:solidFill>
                <a:latin typeface="Trebuchet MS"/>
              </a:rPr>
              <a:t>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2"/>
            <a:ext cx="2148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Short-term demand forecasts drive peak-load planning, demand-side management and tariff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1737360"/>
            <a:ext cx="2606040" cy="26060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21024" y="20574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6BEAA"/>
                </a:solidFill>
                <a:latin typeface="Trebuchet MS"/>
              </a:rPr>
              <a:t>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816352"/>
            <a:ext cx="2148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Half-hourly traces expose when a home is occupied, when people sleep, cook and leave.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737360"/>
            <a:ext cx="2606040" cy="26060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19088" y="20574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6BEAA"/>
                </a:solidFill>
                <a:latin typeface="Trebuchet MS"/>
              </a:rPr>
              <a:t>HETEROGENEITY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816352"/>
            <a:ext cx="2148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Homes differ in occupancy, appliances, insulation and routine — profiles are not identically distributed.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1737360"/>
            <a:ext cx="2606040" cy="26060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17152" y="20574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6BEAA"/>
                </a:solidFill>
                <a:latin typeface="Trebuchet MS"/>
              </a:rPr>
              <a:t>DISTRIBUTED IoT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816352"/>
            <a:ext cx="2148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Smart meters create thousands of data-owning endpoints rather than one central dataset.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90288"/>
            <a:ext cx="11002975" cy="1389888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" y="4828031"/>
            <a:ext cx="102714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THE CORE TENSION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175504"/>
            <a:ext cx="9357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600" b="1" i="0">
                <a:solidFill>
                  <a:srgbClr val="EEF4FA"/>
                </a:solidFill>
                <a:latin typeface="Trebuchet MS"/>
              </a:rPr>
              <a:t>Forecasting gets better with more households' data — but centralising raw household data is exactly what privacy rules, consent fatigue and data governance resist.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1.2  STRENGTHS AND WEAKNESSES OF THE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Three candidate cities, one chosen as the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London is the focus city because it is the only one of the three that publishes a large, open, household-level half-hourly dataset. Amsterdam and Copenhagen are kept as comparison cases.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37360"/>
          <a:ext cx="11000232" cy="42428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2606040"/>
                <a:gridCol w="3429000"/>
                <a:gridCol w="35478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6BEAA"/>
                          </a:solidFill>
                          <a:latin typeface="Trebuchet MS"/>
                        </a:rPr>
                        <a:t>City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6BEAA"/>
                          </a:solidFill>
                          <a:latin typeface="Trebuchet MS"/>
                        </a:rPr>
                        <a:t>Why it is relevant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6BEAA"/>
                          </a:solidFill>
                          <a:latin typeface="Trebuchet MS"/>
                        </a:rPr>
                        <a:t>Strengths for this project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6BEAA"/>
                          </a:solidFill>
                          <a:latin typeface="Trebuchet MS"/>
                        </a:rPr>
                        <a:t>Weaknesses / pain points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</a:tr>
              <a:tr h="12984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London
(focus city)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Low Carbon London published ~5,500 households at half-hourly resolution, labelled with ACORN socio-economic groups.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Open-data culture (London Datastore); a national smart-metering communications backbone; an active distribution operator running flexibility and time-of-use trials.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Old, poorly insulated housing stock makes demand volatile; very mixed tenancy produces strongly non-IID profiles; rollout is still incomplete; consent rules restrict central pooling.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12984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Amsterdam
(comparison)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High smart-meter penetration combined with a well-documented distribution-grid congestion problem.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Amsterdam Smart City living-lab programme; near-universal smart meters from the national rollout; strong local energy-community activity.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Grid congestion in the region is delaying new connections; households may refuse fine-grained readings, so centrally held data is often coarse.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12984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Copenhagen
(comparison)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A high renewable share makes accurate short-term demand forecasting and flexibility essential rather than optional.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Nationwide remote-read meters; a central metering DataHub; an explicit carbon-neutrality programme; extensive district heating.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Wind-driven supply variability; district heating shifts the electricity profile, limiting transfer of a model trained elsewhere; DataHub access is tightly governed.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6053327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46BEAA"/>
                </a:solidFill>
                <a:latin typeface="Trebuchet MS"/>
              </a:rPr>
              <a:t>Chosen focus: London — the weaknesses listed above are precisely the conditions federated learning is designed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1.2  STRENGTHS AND WEAKNESSES OF THE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Focus city: London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Read the right-hand column as the requirements list for the system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5330952" cy="3438144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330952" cy="50292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48255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6BEAA"/>
                </a:solidFill>
                <a:latin typeface="Trebuchet MS"/>
              </a:rPr>
              <a:t>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7091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Low Carbon London trial: about 5,500 households, half-hourly readings, published openly with ACORN socio-demographic groups.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A national smart-metering communications backbone plus a mature open-data portal (London Datastore).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An active distribution network operator running time-of-use and flexibility trials.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Dense, well-instrumented network with established demand-side management programmes.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330952" cy="3438144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5330952" cy="50292"/>
          </a:xfrm>
          <a:prstGeom prst="rect">
            <a:avLst/>
          </a:prstGeom>
          <a:solidFill>
            <a:srgbClr val="E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48255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A050"/>
                </a:solidFill>
                <a:latin typeface="Trebuchet MS"/>
              </a:rPr>
              <a:t>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23744"/>
            <a:ext cx="47091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Ageing, poorly insulated housing stock makes demand volatile and weather-driven.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Extremely mixed dwelling types and tenancy produce strongly non-IID consumption profiles.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Rollout is incomplete, and some meters lose smart functionality after a supplier switch.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Consent and data-minimisation rules restrict pooling fine-grained readings in one store.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Rising EV and heat-pump load is sharpening the winter evening peak.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376672"/>
            <a:ext cx="11002975" cy="82296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555955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EF4FA"/>
                </a:solidFill>
                <a:latin typeface="Trebuchet MS"/>
              </a:rPr>
              <a:t>Each weakness maps to a design decision:  heterogeneity → FedProx   ·   consent limits → federation instead of pooling   ·   peak volatility → short-term horizon.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1.3  AIM AND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One aim, four measurable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11002975" cy="1481328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41832" y="159105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20240"/>
            <a:ext cx="103080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EEF4FA"/>
                </a:solidFill>
                <a:latin typeface="Trebuchet MS"/>
              </a:rPr>
              <a:t>To determine whether an LSTM trained federatively across household smart meters can forecast short-term electricity demand at an accuracy close to centralised training, and to quantify what that costs in convergence, communication and robustness to heterogeneous households.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145536"/>
            <a:ext cx="2606040" cy="276148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0392" y="34015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374D"/>
                </a:solidFill>
                <a:latin typeface="Trebuchet M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986784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Establish the baselines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626864"/>
            <a:ext cx="21214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A4B5C6"/>
                </a:solidFill>
                <a:latin typeface="Trebuchet MS"/>
              </a:rPr>
              <a:t>Build a centralised LSTM on pooled data and a local-only LSTM per household. Report MAE, RMSE and MAPE for both.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3145536"/>
            <a:ext cx="2606040" cy="276148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48456" y="34015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374D"/>
                </a:solidFill>
                <a:latin typeface="Trebuchet M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3986784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Build the federated forecaster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4626864"/>
            <a:ext cx="21214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A4B5C6"/>
                </a:solidFill>
                <a:latin typeface="Trebuchet MS"/>
              </a:rPr>
              <a:t>Implement a simulated household-client Federated LSTM with FedAvg, in which raw time-series records never leave the client.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145536"/>
            <a:ext cx="2606040" cy="276148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6520" y="34015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374D"/>
                </a:solidFill>
                <a:latin typeface="Trebuchet M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86784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Stress-test heterogeneity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26864"/>
            <a:ext cx="21214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A4B5C6"/>
                </a:solidFill>
                <a:latin typeface="Trebuchet MS"/>
              </a:rPr>
              <a:t>Partition clients by consumption profile rather than at random, and simulate unequal data sizes, stragglers and partial participation.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8552" y="3145536"/>
            <a:ext cx="2606040" cy="276148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44584" y="34015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374D"/>
                </a:solidFill>
                <a:latin typeface="Trebuchet M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3986784"/>
            <a:ext cx="21214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Compare under one protocol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4626864"/>
            <a:ext cx="212140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A4B5C6"/>
                </a:solidFill>
                <a:latin typeface="Trebuchet MS"/>
              </a:rPr>
              <a:t>Evaluate Local, Centralised, FedAvg and FedProx on accuracy, convergence and communication cost using identical preprocessing and horizon.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053327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6889E"/>
                </a:solidFill>
                <a:latin typeface="Trebuchet MS"/>
              </a:rPr>
              <a:t>Each objective is deliverable within the semester and produces a number that can be tabulated.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1.4  SCOPE AND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Explicit boundaries make the plan credible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Declaring the boundary now prevents an over-promised project later.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5330952" cy="294436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330952" cy="50292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7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4709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Public household smart-meter datasets; cleaning, resampling and time-series windowing.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Software-simulated federated clients; a single shared LSTM architecture.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FedAvg as the primary method, FedProx as the non-IID alternative.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MAE, RMSE, MAPE, convergence, communication cost and non-IID robustness.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330952" cy="294436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5330952" cy="50292"/>
          </a:xfrm>
          <a:prstGeom prst="rect">
            <a:avLst/>
          </a:prstGeom>
          <a:solidFill>
            <a:srgbClr val="E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29967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A050"/>
                </a:solidFill>
                <a:latin typeface="Trebuchet MS"/>
              </a:rPr>
              <a:t>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709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Physical smart-meter deployment or any IoT hardware build.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Real-time grid control or direct appliance switching.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Electricity-market trading or tariff optimisation.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50">
                <a:solidFill>
                  <a:srgbClr val="EEF4FA"/>
                </a:solidFill>
                <a:latin typeface="Trebuchet MS"/>
              </a:rPr>
              <a:t>Utility-scale production deployment across a live distribution network.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901183"/>
            <a:ext cx="11002975" cy="1243584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E0A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78408" y="5084064"/>
            <a:ext cx="102348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A050"/>
                </a:solidFill>
                <a:latin typeface="Trebuchet MS"/>
              </a:rPr>
              <a:t>THE LIMITATION WE STATE UP 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5394960"/>
            <a:ext cx="10234879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EEF4FA"/>
                </a:solidFill>
                <a:latin typeface="Trebuchet MS"/>
              </a:rPr>
              <a:t>Federated learning gives data locality, not a formal privacy guarantee. Raw readings stay on the client, but model updates can still leak information — so we claim privacy-aware data minimisation, and name DP-SGD and secure aggregation as future extensions, not as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1A283C"/>
                </a:solidFill>
                <a:latin typeface="Trebuchet M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0428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6BEAA"/>
                </a:solidFill>
                <a:latin typeface="Trebuchet M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24912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EF4FA"/>
                </a:solidFill>
                <a:latin typeface="Trebuchet MS"/>
              </a:rPr>
              <a:t>Contextual Background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039112" y="3931920"/>
            <a:ext cx="822960" cy="32004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224528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50">
                <a:solidFill>
                  <a:srgbClr val="A4B5C6"/>
                </a:solidFill>
                <a:latin typeface="Trebuchet MS"/>
              </a:rPr>
              <a:t>Conceptual framework and research design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50">
                <a:solidFill>
                  <a:srgbClr val="A4B5C6"/>
                </a:solidFill>
                <a:latin typeface="Trebuchet MS"/>
              </a:rPr>
              <a:t>The proposed idea — FedAvg and FedProx over a shared LSTM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50">
                <a:solidFill>
                  <a:srgbClr val="A4B5C6"/>
                </a:solidFill>
                <a:latin typeface="Trebuchet MS"/>
              </a:rPr>
              <a:t>Literature survey — 27 articles, 2022–2026, and the gaps they leave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50">
                <a:solidFill>
                  <a:srgbClr val="A4B5C6"/>
                </a:solidFill>
                <a:latin typeface="Trebuchet MS"/>
              </a:rPr>
              <a:t>Key features, challenges and benefits to the city</a:t>
            </a:r>
          </a:p>
          <a:p>
            <a:pPr marL="182880" indent="-182880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250">
                <a:solidFill>
                  <a:srgbClr val="A4B5C6"/>
                </a:solidFill>
                <a:latin typeface="Trebuchet MS"/>
              </a:rPr>
              <a:t>Data collection, databases referred and how the data is organised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2.1  CONCEPTUAL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A three-layer smart-city energy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Data moves upward only as model parameters; intelligence moves downward as a shared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8732520" cy="120700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0292" cy="1207008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11679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6BEAA"/>
                </a:solidFill>
                <a:latin typeface="Trebuchet MS"/>
              </a:rPr>
              <a:t>LAYER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04288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EEF4FA"/>
                </a:solidFill>
                <a:latin typeface="Trebuchet MS"/>
              </a:rPr>
              <a:t>Smart-city energy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084831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00984" y="2139696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Aggregate demand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9744" y="2084831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64607" y="2139696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Peak &amp; congestion planning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2084831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28231" y="2139696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Demand-side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36992" y="2084831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91856" y="2139696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Time-of-use tariffs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46704"/>
            <a:ext cx="8732520" cy="120700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94360" y="3346704"/>
            <a:ext cx="50292" cy="1207008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2102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6BEAA"/>
                </a:solidFill>
                <a:latin typeface="Trebuchet MS"/>
              </a:rPr>
              <a:t>LAYER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1363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EEF4FA"/>
                </a:solidFill>
                <a:latin typeface="Trebuchet MS"/>
              </a:rPr>
              <a:t>Federated learning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694176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300984" y="3749040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Global LSTM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9744" y="3694176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Client selection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3368" y="3694176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8231" y="3749040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FedAvg / FedProx aggregation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36992" y="3694176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991856" y="3749040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Round scheduling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56048"/>
            <a:ext cx="8732520" cy="120700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94360" y="4956048"/>
            <a:ext cx="50292" cy="1207008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230368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6BEAA"/>
                </a:solidFill>
                <a:latin typeface="Trebuchet MS"/>
              </a:rPr>
              <a:t>LAYER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52297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EEF4FA"/>
                </a:solidFill>
                <a:latin typeface="Trebuchet MS"/>
              </a:rPr>
              <a:t>Household / IoT client 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5303520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300984" y="5358384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Smart meter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9744" y="5303520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864607" y="5358384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Home gateway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3368" y="5303520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28231" y="5358384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Local data store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36992" y="5303520"/>
            <a:ext cx="1444752" cy="512064"/>
          </a:xfrm>
          <a:prstGeom prst="roundRect">
            <a:avLst>
              <a:gd name="adj" fmla="val 18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991856" y="5358384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Local LSTM training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29992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↑   forecasts and aggregate demand curves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4608575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↑   model updates (parameters only)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608575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A4B5C6"/>
                </a:solidFill>
                <a:latin typeface="Trebuchet MS"/>
              </a:rPr>
              <a:t>↓   global model broadcast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55480" y="1737360"/>
            <a:ext cx="2039112" cy="4425696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802368" y="2029967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THE INVARIANT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2368" y="2697480"/>
            <a:ext cx="1600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1500" b="1" i="0">
                <a:solidFill>
                  <a:srgbClr val="EEF4FA"/>
                </a:solidFill>
                <a:latin typeface="Trebuchet MS"/>
              </a:rPr>
              <a:t>Raw half-hourly</a:t>
            </a:r>
          </a:p>
          <a:p>
            <a:pPr algn="ctr">
              <a:lnSpc>
                <a:spcPct val="132000"/>
              </a:lnSpc>
            </a:pPr>
            <a:r>
              <a:rPr sz="1500" b="1" i="0">
                <a:solidFill>
                  <a:srgbClr val="EEF4FA"/>
                </a:solidFill>
                <a:latin typeface="Trebuchet MS"/>
              </a:rPr>
              <a:t>readings never</a:t>
            </a:r>
          </a:p>
          <a:p>
            <a:pPr algn="ctr">
              <a:lnSpc>
                <a:spcPct val="132000"/>
              </a:lnSpc>
            </a:pPr>
            <a:r>
              <a:rPr sz="1500" b="1" i="0">
                <a:solidFill>
                  <a:srgbClr val="EEF4FA"/>
                </a:solidFill>
                <a:latin typeface="Trebuchet MS"/>
              </a:rPr>
              <a:t>cross Layer 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4434840"/>
            <a:ext cx="16002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Only weight tensors are transmitted, and only in the upward direction.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2.1  RESEARCH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A controlled four-arm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The only way to attribute a difference in error to federation is to hold everything else fixed.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2606040" cy="212140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975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4B5C6"/>
                </a:solidFill>
                <a:latin typeface="Trebuchet MS"/>
              </a:rPr>
              <a:t>LOCAL-ONLY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04288"/>
            <a:ext cx="2148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EF4FA"/>
                </a:solidFill>
                <a:latin typeface="Trebuchet MS"/>
              </a:rPr>
              <a:t>Each household trains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Data: stays home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Collaboration: none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889E"/>
                </a:solidFill>
                <a:latin typeface="Trebuchet MS"/>
              </a:rPr>
              <a:t>LOWER BOUND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4" y="1737360"/>
            <a:ext cx="2606040" cy="212140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21024" y="1975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4B5C6"/>
                </a:solidFill>
                <a:latin typeface="Trebuchet MS"/>
              </a:rPr>
              <a:t>CENTRALISED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304288"/>
            <a:ext cx="2148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EF4FA"/>
                </a:solidFill>
                <a:latin typeface="Trebuchet MS"/>
              </a:rPr>
              <a:t>All data pooled, one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852928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Data: leaves home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Collaboration: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3511296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889E"/>
                </a:solidFill>
                <a:latin typeface="Trebuchet MS"/>
              </a:rPr>
              <a:t>UPPER BOUND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1737360"/>
            <a:ext cx="2606040" cy="2121408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19088" y="1975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6BEAA"/>
                </a:solidFill>
                <a:latin typeface="Trebuchet MS"/>
              </a:rPr>
              <a:t>FedAvg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304288"/>
            <a:ext cx="2148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EF4FA"/>
                </a:solidFill>
                <a:latin typeface="Trebuchet MS"/>
              </a:rPr>
              <a:t>Federated, weighted averaging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852928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Data: stays home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Collaboration: via weights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11296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889E"/>
                </a:solidFill>
                <a:latin typeface="Trebuchet MS"/>
              </a:rPr>
              <a:t>PROPOSED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1737360"/>
            <a:ext cx="2606040" cy="2121408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217152" y="19751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6BEAA"/>
                </a:solidFill>
                <a:latin typeface="Trebuchet MS"/>
              </a:rPr>
              <a:t>FedProx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304288"/>
            <a:ext cx="2148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EF4FA"/>
                </a:solidFill>
                <a:latin typeface="Trebuchet MS"/>
              </a:rPr>
              <a:t>Federated + proximal term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2852928"/>
            <a:ext cx="2148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Data: stays home</a:t>
            </a:r>
          </a:p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Collaboration: constrained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3511296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76889E"/>
                </a:solidFill>
                <a:latin typeface="Trebuchet MS"/>
              </a:rPr>
              <a:t>NON-IID VARIANT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114800"/>
            <a:ext cx="53309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86968" y="433425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HELD CONSTANT ACROSS ALL FOUR ARMS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718304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LSTM depth, hidden units, optimiser and learning rate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Input window length and forecast horizon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Cleaning, resampling and scaling procedure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Chronological train / validation / test split and random seeds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114800"/>
            <a:ext cx="53309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56248" y="433425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A050"/>
                </a:solidFill>
                <a:latin typeface="Trebuchet MS"/>
              </a:rPr>
              <a:t>DELIBERATELY VARIED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4718304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Where the data lives and which aggregation rule is used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Degree of client heterogeneity (random vs profile-based partition)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Fraction of clients participating per round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Number of communication rounds and local epochs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2.2  PROPOSED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One federated round,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Each household is a client. The server never sees a kilowatt-hour — only weights.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1893356" cy="196596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5528" y="1956815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86000"/>
            <a:ext cx="1491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LOCAL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51760"/>
            <a:ext cx="14910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Half-hourly readings stay on the home gateway and are windowed locally.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6004" y="25146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6BEAA"/>
                </a:solidFill>
                <a:latin typeface="Trebuchet M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764" y="1737360"/>
            <a:ext cx="1893356" cy="196596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2932" y="1956815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932" y="2286000"/>
            <a:ext cx="1491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LOCAL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932" y="2651760"/>
            <a:ext cx="14910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The client trains the shared LSTM for a few epochs on its own history.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3409" y="25146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6BEAA"/>
                </a:solidFill>
                <a:latin typeface="Trebuchet M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9169" y="1737360"/>
            <a:ext cx="1893356" cy="196596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50337" y="1956815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0337" y="2286000"/>
            <a:ext cx="1491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UPLOAD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0337" y="2651760"/>
            <a:ext cx="14910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Only the updated weight tensors are sent to the server.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0813" y="25146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6BEAA"/>
                </a:solidFill>
                <a:latin typeface="Trebuchet M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26573" y="1737360"/>
            <a:ext cx="1893356" cy="196596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27741" y="1956815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7741" y="2286000"/>
            <a:ext cx="1491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AGGREGATE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7741" y="2651760"/>
            <a:ext cx="14910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The server merges updates with FedAvg, or FedProx under non-IID clients.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8218" y="25146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6BEAA"/>
                </a:solidFill>
                <a:latin typeface="Trebuchet M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03978" y="1737360"/>
            <a:ext cx="1893356" cy="196596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905146" y="1956815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5146" y="2286000"/>
            <a:ext cx="14910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BROADCAST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5146" y="2651760"/>
            <a:ext cx="14910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The improved global LSTM is pushed back to every client.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17320" y="4005072"/>
            <a:ext cx="9357055" cy="18288"/>
          </a:xfrm>
          <a:prstGeom prst="rect">
            <a:avLst/>
          </a:prstGeom>
          <a:solidFill>
            <a:srgbClr val="253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096512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A4B5C6"/>
                </a:solidFill>
                <a:latin typeface="Trebuchet MS"/>
              </a:rPr>
              <a:t>↻   repeat for R communication rounds until the global model converges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590288"/>
            <a:ext cx="5330952" cy="137160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4791456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A050"/>
                </a:solidFill>
                <a:latin typeface="Trebuchet MS"/>
              </a:rPr>
              <a:t>WHAT MOVES IN THE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206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EF4FA"/>
                </a:solidFill>
                <a:latin typeface="Trebuchet MS"/>
              </a:rPr>
              <a:t>Centralised training moves the raw consumption record — every reading, for every home, into one database.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590288"/>
            <a:ext cx="5330952" cy="137160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83680" y="4791456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WHAT MOVES IN THE PROPOSAL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12064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EF4FA"/>
                </a:solidFill>
                <a:latin typeface="Trebuchet MS"/>
              </a:rPr>
              <a:t>Federated training moves a fixed-size weight tensor — independent of how many readings the household holds.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2.2  PROPOSED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The two aggregation rules being compared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Same LSTM, same data pipeline. Only the local objective and the merge rule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5330952" cy="310896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330952" cy="50292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7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6BEAA"/>
                </a:solidFill>
                <a:latin typeface="Trebuchet MS"/>
              </a:rPr>
              <a:t>FedAvg  —  baseline federated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87168"/>
            <a:ext cx="4690872" cy="566928"/>
          </a:xfrm>
          <a:prstGeom prst="roundRect">
            <a:avLst>
              <a:gd name="adj" fmla="val 1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4690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EF4FA"/>
                </a:solidFill>
                <a:latin typeface="Trebuchet MS"/>
              </a:rPr>
              <a:t>w  ←  Σ ( n_k / n ) · w_k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18688"/>
            <a:ext cx="4709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00">
                <a:solidFill>
                  <a:srgbClr val="A4B5C6"/>
                </a:solidFill>
                <a:latin typeface="Trebuchet MS"/>
              </a:rPr>
              <a:t>Each client k returns its locally trained weights w_k.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00">
                <a:solidFill>
                  <a:srgbClr val="A4B5C6"/>
                </a:solidFill>
                <a:latin typeface="Trebuchet MS"/>
              </a:rPr>
              <a:t>The server averages them, weighted by the number of samples n_k the client holds.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100">
                <a:solidFill>
                  <a:srgbClr val="A4B5C6"/>
                </a:solidFill>
                <a:latin typeface="Trebuchet MS"/>
              </a:rPr>
              <a:t>Simple and communication-cheap — but with non-IID clients the local models drift apart and their average can be a poor compromise for everybody.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330952" cy="310896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63640" y="1737360"/>
            <a:ext cx="5330952" cy="50292"/>
          </a:xfrm>
          <a:prstGeom prst="rect">
            <a:avLst/>
          </a:prstGeom>
          <a:solidFill>
            <a:srgbClr val="E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29967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A050"/>
                </a:solidFill>
                <a:latin typeface="Trebuchet MS"/>
              </a:rPr>
              <a:t>FedProx  —  the non-IID alternative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487168"/>
            <a:ext cx="4690872" cy="566928"/>
          </a:xfrm>
          <a:prstGeom prst="roundRect">
            <a:avLst>
              <a:gd name="adj" fmla="val 1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0" y="2487168"/>
            <a:ext cx="4690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EEF4FA"/>
                </a:solidFill>
                <a:latin typeface="Trebuchet MS"/>
              </a:rPr>
              <a:t>min  F_k(w)  +  (μ / 2) · || w − w_global ||²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18688"/>
            <a:ext cx="4709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00">
                <a:solidFill>
                  <a:srgbClr val="A4B5C6"/>
                </a:solidFill>
                <a:latin typeface="Trebuchet MS"/>
              </a:rPr>
              <a:t>The round structure is unchanged; only the client's loss gains a proximal term.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00">
                <a:solidFill>
                  <a:srgbClr val="A4B5C6"/>
                </a:solidFill>
                <a:latin typeface="Trebuchet MS"/>
              </a:rPr>
              <a:t>That term penalises drifting far from the current global model. Setting μ = 0 recovers FedAvg exactly.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100" b="1">
                <a:solidFill>
                  <a:srgbClr val="E0A050"/>
                </a:solidFill>
                <a:latin typeface="Trebuchet MS"/>
              </a:rPr>
              <a:t>▪  </a:t>
            </a:r>
            <a:r>
              <a:rPr sz="1100">
                <a:solidFill>
                  <a:srgbClr val="A4B5C6"/>
                </a:solidFill>
                <a:latin typeface="Trebuchet MS"/>
              </a:rPr>
              <a:t>It also tolerates stragglers, because a client that finishes fewer local epochs still contributes a usable update.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065776"/>
            <a:ext cx="11002975" cy="86868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5266944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EEF4FA"/>
                </a:solidFill>
                <a:latin typeface="Trebuchet MS"/>
              </a:rPr>
              <a:t>Because μ is the only structural difference, any change in error is attributable to drift control — which is exactly what makes the comparison controlled.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2.3  LITERATURE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How the 27 articles were selected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The question paper asks for a minimum of 12 articles; this survey retains 27, all published 2022–2026.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977639" cy="4279392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1993391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SEARCH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450591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DATABASES SEARCHED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88335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EF4FA"/>
                </a:solidFill>
                <a:latin typeface="Trebuchet MS"/>
              </a:rPr>
              <a:t>Scopus · Web of Science · IEEE Xplore · ScienceDirect · SpringerLink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163824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KEY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01568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EF4FA"/>
                </a:solidFill>
                <a:latin typeface="Trebuchet MS"/>
              </a:rPr>
              <a:t>federated learning · short-term load forecasting · smart meter · LSTM · non-IID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77056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114800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EF4FA"/>
                </a:solidFill>
                <a:latin typeface="Trebuchet MS"/>
              </a:rPr>
              <a:t>2022 – 2026 (100% within five years)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590288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SCREENED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28031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EF4FA"/>
                </a:solidFill>
                <a:latin typeface="Trebuchet MS"/>
              </a:rPr>
              <a:t>Title and abstract, then full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5303520"/>
            <a:ext cx="3429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RETAINED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541264"/>
            <a:ext cx="34290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EF4FA"/>
                </a:solidFill>
                <a:latin typeface="Trebuchet MS"/>
              </a:rPr>
              <a:t>27 peer-reviewed journal articles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1737360"/>
            <a:ext cx="6702552" cy="777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02352" y="1819656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1819656"/>
            <a:ext cx="2148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Forecasting foundations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1819656"/>
            <a:ext cx="3566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LSTM, BiLSTM and hybrid deep models establish that household load is a temporal regression problem with strong daily and weekly structure.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2606039"/>
            <a:ext cx="6702552" cy="777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02352" y="2688335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2688335"/>
            <a:ext cx="2148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Federated forecasting 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88335"/>
            <a:ext cx="3566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FedAvg, probabilistic and asynchronous variants show collaborative training without raw-data pooling is feasible on real meter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3474720"/>
            <a:ext cx="6702552" cy="777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102352" y="3557015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557015"/>
            <a:ext cx="2148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Heterogeneity is the hard part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557015"/>
            <a:ext cx="3566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Clustering, personalisation and FedProx are all introduced to cope with non-IID household and building profiles.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4343400"/>
            <a:ext cx="6702552" cy="777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02352" y="4425696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425696"/>
            <a:ext cx="2148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Privacy and efficiency layers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425696"/>
            <a:ext cx="3566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Differential privacy, secure aggregation, homomorphic encryption, quantisation and hierarchical FL trade accuracy for protection or bandwidth.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2040" y="5212079"/>
            <a:ext cx="6702552" cy="777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102352" y="5294375"/>
            <a:ext cx="457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6BEAA"/>
                </a:solidFill>
                <a:latin typeface="Trebuchet M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94375"/>
            <a:ext cx="2148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Where 2025–2026 is heading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294375"/>
            <a:ext cx="35661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The newest work treats client heterogeneity, missing data and robustness as the central experimental variable rather than an assumption.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2.3  LITERATURE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Comparison matrix  —  part 1 of 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89888"/>
          <a:ext cx="11000232" cy="45034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83080"/>
                <a:gridCol w="2487168"/>
                <a:gridCol w="2029968"/>
                <a:gridCol w="1755648"/>
                <a:gridCol w="2944368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Author (year)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Method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Dataset / testbed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Reported metrics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Limitation — what it leaves open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Fernández et al. (2022)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FL + differential privacy + secure aggregation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Residential smart meters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 vs privacy budget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Privacy layers added together; cost of each is not separated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Fekri et al. (2022)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Federated RNN; FedAvg and FedSGD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Residential smart-meter load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RMSE; local vs central vs FL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Client heterogeneity is not isolated as a variable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Gholizadeh &amp; Musilek (2022)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FL with hyperparameter-based clustering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Household electricity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RMSE; convergence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Clustering presumes prior knowledge of household profiles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Yang et al. (2023)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Integrated FL with decomposition and clustering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US and Australian load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MAPE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Pipeline complexity hides the contribution of FedAvg itself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Liu et al. (2023)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FedForecast — probabilistic federated forecasting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Pecan Street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Point and probabilistic accuracy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Probabilistic focus; communication budget not central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Fekri et al. (2023)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Asynchronous adaptive federated learning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Smart-meter load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 against rounds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Confidential dataset limits independent reproduction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Qu et al. (2023)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Personalised FL with differential privacy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Residential load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Accuracy; privacy level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Personalisation makes a plain FedAvg baseline hard to read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Wang et al. (2023)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Adaptive federated learning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Community buildings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Accuracy; communication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Building-level clients, not individual households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Khalil et al. (2023)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Privacy-preserving FL for big-data load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Building energy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Forecast error and privacy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Building-oriented; household non-IID effects not studied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6053327"/>
            <a:ext cx="110029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889E"/>
                </a:solidFill>
                <a:latin typeface="Trebuchet MS"/>
              </a:rPr>
              <a:t>Articles 1–9 of 27  ·  every entry is a peer-reviewed journal article published between 2022 and 2026  ·  full bibliographic details on the reference slides.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2.3  LITERATURE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Comparison matrix  —  part 2 of 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89888"/>
          <a:ext cx="11000232" cy="45034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83080"/>
                <a:gridCol w="2487168"/>
                <a:gridCol w="2029968"/>
                <a:gridCol w="1755648"/>
                <a:gridCol w="2944368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Author (year)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Method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Dataset / testbed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Reported metrics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Limitation — what it leaves open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Widmer et al. (2023)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FL compared against model personalisation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Low Carbon London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Loss distributions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Shows benchmark design matters, but no communication budget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Dogra et al. (2023)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Consumer profiling combined with FL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20 residential buildings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Accuracy; communication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Grouping requires profile labels that may not exist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Xiao et al. (2023)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Multi-task selected-shared-private learning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Multiple buildings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Prediction accuracy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No federated privacy mechanism; data still shared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Dab et al. (2023)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Consensus-based time-series clustering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Residential profiles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Error and cluster quality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Decentralised deployment complexity not quantified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Sarmento et al. (2024)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CNN-LSTM-FED on edge devices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Smart* and BDG2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Accuracy; edge resource use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Hybrid architecture confounds the effect of federation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Abdulla et al. (2024)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Adaptive FL with stacked LSTM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Smart-meter energy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MAE; overhead; training time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Not framed as a controlled FedAvg benchmark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Singh &amp; Bedi (2024)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FL + transfer learning + clustering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~6,000 Australian households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RMSE; MAE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Transfer learning and clustering confound plain federation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Manzoor et al. (2024)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Single-layer adaptive aggregation + quantisation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Two energy datasets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Communication; storage; loss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Communication-first; forecasting accuracy is secondary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Mao et al. (2024)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Blockchain-based FL with differential privacy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Power-load datasets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Accuracy; poisoning resistance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Architecture far heavier than a semester prototype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6053327"/>
            <a:ext cx="110029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889E"/>
                </a:solidFill>
                <a:latin typeface="Trebuchet MS"/>
              </a:rPr>
              <a:t>Articles 10–18 of 27  ·  every entry is a peer-reviewed journal article published between 2022 and 2026  ·  full bibliographic details on the reference slides.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2.3  LITERATURE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Comparison matrix  —  part 3 of 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89888"/>
          <a:ext cx="11000232" cy="45034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83080"/>
                <a:gridCol w="2487168"/>
                <a:gridCol w="2029968"/>
                <a:gridCol w="1755648"/>
                <a:gridCol w="2944368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Author (year)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Method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Dataset / testbed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Reported metrics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Limitation — what it leaves open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Aurangzeb et al. (2024)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Time2Vec embedding with BiLSTM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SGSC household data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MAPE; RMSE; MAE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Fully centralised; no privacy mechanism at all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Huang et al. (2024)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PCA + back-propagation network with FedAvg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EASP energy data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Accuracy; efficiency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Not an LSTM and not household-level clients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Mostafanezhad et al. (2025)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Personalised FL with poisoning defence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Residential energy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Error; compute; robustness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Security focus sits beyond the core forecasting baseline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Kaur et al. (2025)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LSTM + FedProx + homomorphic encryption + clustering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Residential energy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MAE / RMSE; overhead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Encryption cost masks the isolated contribution of FedProx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Shao et al. (2026)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Personalised FL with graph diffusion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Chinese power system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Missing-data robustness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Adds a graph-learning layer on top of federation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Das et al. (2026)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Heterogeneity-aware personalised FL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Smart*, CU-BEMS, UCI, AMPds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MAE, R²; 1/12/24-step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Closest benchmark to ours, but far more complex per client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Wang et al. (2026)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Personalised FL + mixture of experts + conformal prediction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Two household datasets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Accuracy; interval reliability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Model complexity is high relative to the gain reported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Tibermacine et al. (2026)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GRU with FedAvg / FedProx / FedTrimmedAvg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Moroccan smart grid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MAE / RMSE / MAPE; comms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GRU and zone-level clients rather than individual homes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1">
                          <a:solidFill>
                            <a:srgbClr val="EEF4FA"/>
                          </a:solidFill>
                          <a:latin typeface="Trebuchet MS"/>
                        </a:rPr>
                        <a:t>He et al. (2026)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Hierarchical end–edge–cloud federated learning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Residential smart meters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Accuracy; latency; privacy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A4B5C6"/>
                          </a:solidFill>
                          <a:latin typeface="Trebuchet MS"/>
                        </a:rPr>
                        <a:t>Requires edge infrastructure not available in simulation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6053327"/>
            <a:ext cx="110029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6889E"/>
                </a:solidFill>
                <a:latin typeface="Trebuchet MS"/>
              </a:rPr>
              <a:t>Articles 19–27 of 27  ·  every entry is a peer-reviewed journal article published between 2022 and 2026  ·  full bibliographic details on the reference slides.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2.3  RESEARCH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What the 27 papers leave unanswered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Each gap below is traced to the rows of the comparison matrix, not asserted in the abstract.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0392" y="193852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A050"/>
                </a:solidFill>
                <a:latin typeface="Trebuchet MS"/>
              </a:rPr>
              <a:t>GAP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231136"/>
            <a:ext cx="3017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Heterogeneity is described, not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79776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Many papers acknowledge non-IID households and then fix the partition. None sweeps the degree of heterogeneity as a controlled variable.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401568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889E"/>
                </a:solidFill>
                <a:latin typeface="Trebuchet MS"/>
              </a:rPr>
              <a:t>TRACES TO  Rows 2, 3, 7, 11,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737360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A050"/>
                </a:solidFill>
                <a:latin typeface="Trebuchet MS"/>
              </a:rPr>
              <a:t>GAP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31136"/>
            <a:ext cx="3017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No like-for-like four-arm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779776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Local-only, centralised and federated results are usually reported under different architectures or preprocessing, so the gap cannot be attributed to federation.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401568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889E"/>
                </a:solidFill>
                <a:latin typeface="Trebuchet MS"/>
              </a:rPr>
              <a:t>TRACES TO  Rows 2, 10, 14, 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37360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57031" y="193852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A050"/>
                </a:solidFill>
                <a:latin typeface="Trebuchet MS"/>
              </a:rPr>
              <a:t>GAP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231136"/>
            <a:ext cx="3017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Accuracy is rarely priced in bandwidth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779776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Communication cost is either the whole focus or absent. Few papers plot forecasting error against rounds and update bytes on the same axes.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401568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889E"/>
                </a:solidFill>
                <a:latin typeface="Trebuchet MS"/>
              </a:rPr>
              <a:t>TRACES TO  Rows 5, 17,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22191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0392" y="4023359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A050"/>
                </a:solidFill>
                <a:latin typeface="Trebuchet MS"/>
              </a:rPr>
              <a:t>GAP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4315968"/>
            <a:ext cx="3017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Stragglers are assumed 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864607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Simulations typically assume every selected client returns on time with equal data. Unequal sizes and intermittent participation are seldom tested.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486400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889E"/>
                </a:solidFill>
                <a:latin typeface="Trebuchet MS"/>
              </a:rPr>
              <a:t>TRACES TO  Rows 6, 15, 27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822191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53712" y="4023359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0A050"/>
                </a:solidFill>
                <a:latin typeface="Trebuchet MS"/>
              </a:rPr>
              <a:t>GAP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315968"/>
            <a:ext cx="3017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EEF4FA"/>
                </a:solidFill>
                <a:latin typeface="Trebuchet MS"/>
              </a:rPr>
              <a:t>Federation is treated as 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864607"/>
            <a:ext cx="30175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A4B5C6"/>
                </a:solidFill>
                <a:latin typeface="Trebuchet MS"/>
              </a:rPr>
              <a:t>Several papers equate keeping data local with privacy. The papers that add DP or encryption bundle several mechanisms, so no single cost is isolated.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5486400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76889E"/>
                </a:solidFill>
                <a:latin typeface="Trebuchet MS"/>
              </a:rPr>
              <a:t>TRACES TO  Rows 1, 7, 18, 22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822191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57031" y="4023360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6BEAA"/>
                </a:solidFill>
                <a:latin typeface="Trebuchet MS"/>
              </a:rPr>
              <a:t>OUR 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4315968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00" b="0" i="0">
                <a:solidFill>
                  <a:srgbClr val="EEF4FA"/>
                </a:solidFill>
                <a:latin typeface="Trebuchet MS"/>
              </a:rPr>
              <a:t>We do not claim federated learning is new. We claim that a controlled, heterogeneity-swept, communication-priced comparison of Local, Centralised, FedAvg and FedProx on one LSTM is missing — and that is what we build.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2.4  KEY FEATURES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Six properties that define the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Each feature exists to answer one of the five research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0292" cy="192024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75104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Privacy by data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3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Raw half-hourly readings never leave the home gateway. The design constraint is architectural, not a policy promise.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1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ANSWERS  GAP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737360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97680" y="1737360"/>
            <a:ext cx="50292" cy="192024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75104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One architecture, four arms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7743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Local, Centralised, FedAvg and FedProx all run the same LSTM under the same preprocessing, so any difference is attributable.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64991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ANSWERS  GAP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37360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01000" y="1737360"/>
            <a:ext cx="50292" cy="192024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975104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Profile-based partitioning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7743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Clients are split by consumption profile rather than at random, producing realistic non-IID heterogeneity that can be dialled up or down.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364991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ANSWERS  GAP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822191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94360" y="3822191"/>
            <a:ext cx="50292" cy="192024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59935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Straggler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6227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Unequal client dataset sizes, slow clients and partial round participation are modelled explicitly rather than assumed away.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4982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ANSWERS  GAP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822191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297680" y="3822191"/>
            <a:ext cx="50292" cy="192024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059935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Communication accounting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46227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Rounds × participating clients × update size gives an explicit byte budget plotted against forecasting error.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44982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ANSWERS  GAP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822191"/>
            <a:ext cx="3502152" cy="19202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001000" y="3822191"/>
            <a:ext cx="50292" cy="192024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4059935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6BEAA"/>
                </a:solidFill>
                <a:latin typeface="Trebuchet MS"/>
              </a:rPr>
              <a:t>Reproducible open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46227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Public datasets with PyTorch and Flower, fixed seeds and a scripted pipeline, so the whole comparison can be re-run.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44982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ANSWERS  ALL GAPS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2.4.1  CHALLENGES IN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What can go wrong, and the planned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These are stated as risks with mitigations rather than hidden until the results are due.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37360"/>
          <a:ext cx="11000232" cy="4297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4069080"/>
                <a:gridCol w="45994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E0A050"/>
                          </a:solidFill>
                          <a:latin typeface="Trebuchet MS"/>
                        </a:rPr>
                        <a:t>Challenge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E0A050"/>
                          </a:solidFill>
                          <a:latin typeface="Trebuchet MS"/>
                        </a:rPr>
                        <a:t>Why it is hard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E0A050"/>
                          </a:solidFill>
                          <a:latin typeface="Trebuchet MS"/>
                        </a:rPr>
                        <a:t>Planned mitigation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Non-IID household profiles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Local models drift apart during local epochs, so the FedAvg average can be worse for every client than its own local model.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Introduce FedProx with a tuned μ; sweep the heterogeneity level and report where FedAvg breaks down.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Stragglers and dropout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Clients have unequal data volumes and finish at different times; waiting for the slowest client stalls the round.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Simulate partial participation and variable local epochs; FedProx accepts partial work as a valid update.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Communication overhead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Every round ships a full weight tensor in both directions; more rounds means better accuracy but more bandwidth.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Record bytes per round and plot error against cumulative communication; report the knee of the curve.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Data quality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Meter dropouts, missing intervals, clock and daylight-saving shifts, and long near-zero periods that destabilise MAPE.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Resample to a fixed grid, impute short gaps, drop unusable clients, and always report MAE and RMSE beside MAPE.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Simulation fidelity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Software clients have no real bandwidth, battery or CPU limit, so the prototype flatters real gateway behaviour.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State it as a limitation; report update size and round count so real-world cost can be estimated.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Compute budget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Many clients across many rounds multiplies training time well beyond a single centralised run.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Fix one primary dataset, cap client count and rounds, and use a second dataset only if time allows.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2.4.2  FEATURES AND BENEFITS TO THE 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Who gains, and what they 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The deliverable is a forecasting capability the city can use without building a central store of household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2606040" cy="324612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2606040" cy="50292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048255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6BEAA"/>
                </a:solidFill>
                <a:latin typeface="Trebuchet MS"/>
              </a:rPr>
              <a:t>THE NETWORK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670048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Short-term demand visibility for peak-load and congestion planning.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No custodianship of raw household records, so breach exposure falls.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Scales by adding clients, not by growing one central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1737360"/>
            <a:ext cx="2606040" cy="324612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392424" y="1737360"/>
            <a:ext cx="2606040" cy="50292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048255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6BEAA"/>
                </a:solidFill>
                <a:latin typeface="Trebuchet MS"/>
              </a:rPr>
              <a:t>HOUSEHOLDS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670048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Behavioural data stays on the home gateway.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A new or low-history home still benefits from the city-scale model.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Participation needs a far lighter consent than raw-data sharing.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737360"/>
            <a:ext cx="2606040" cy="324612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90488" y="1737360"/>
            <a:ext cx="2606040" cy="50292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048255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6BEAA"/>
                </a:solidFill>
                <a:latin typeface="Trebuchet MS"/>
              </a:rPr>
              <a:t>REGULATORS AND THE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670048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Aligns with data-minimisation expectations by design.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Better forecasts support time-of-use tariffs and flexibility schemes.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A transparent, reproducible method that can be audited.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8552" y="1737360"/>
            <a:ext cx="2606040" cy="324612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88552" y="1737360"/>
            <a:ext cx="2606040" cy="50292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2048255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46BEAA"/>
                </a:solidFill>
                <a:latin typeface="Trebuchet MS"/>
              </a:rPr>
              <a:t>SUSTAINABILITY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670048"/>
            <a:ext cx="2148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SDG 7 — more efficient demand-side planning.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SDG 11 — data-driven infrastructure for a sustainable city.</a:t>
            </a:r>
          </a:p>
          <a:p>
            <a:pPr marL="182880" indent="-182880">
              <a:lnSpc>
                <a:spcPct val="112000"/>
              </a:lnSpc>
              <a:spcAft>
                <a:spcPts val="900"/>
              </a:spcAft>
            </a:pPr>
            <a:r>
              <a:rPr sz="10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50">
                <a:solidFill>
                  <a:srgbClr val="A4B5C6"/>
                </a:solidFill>
                <a:latin typeface="Trebuchet MS"/>
              </a:rPr>
              <a:t>SDG 12 — better visibility of household consumption.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212079"/>
            <a:ext cx="11002975" cy="841248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05840" y="5413248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EEF4FA"/>
                </a:solidFill>
                <a:latin typeface="Trebuchet MS"/>
              </a:rPr>
              <a:t>The city gets the forecasting benefit of pooled data without ever holding the pooled data — that is the whole proposition.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2.5  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Secondary data sources under 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This is a secondary-data study. No human subjects are interviewed or surveyed; all sources are published research datasets with documented access terms.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37360"/>
          <a:ext cx="11000232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2788920"/>
                <a:gridCol w="1965960"/>
                <a:gridCol w="409651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6BEAA"/>
                          </a:solidFill>
                          <a:latin typeface="Trebuchet MS"/>
                        </a:rPr>
                        <a:t>Dataset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6BEAA"/>
                          </a:solidFill>
                          <a:latin typeface="Trebuchet MS"/>
                        </a:rPr>
                        <a:t>Coverage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6BEAA"/>
                          </a:solidFill>
                          <a:latin typeface="Trebuchet MS"/>
                        </a:rPr>
                        <a:t>Resolution and span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46BEAA"/>
                          </a:solidFill>
                          <a:latin typeface="Trebuchet MS"/>
                        </a:rPr>
                        <a:t>Role in this project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Low Carbon London
(UK Power Networks)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~5,500 London households, with ACORN socio-economic group labels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Half-hourly kWh,
2011 – 2014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PRIMARY. Large client population and profile labels give a realistic, controllable non-IID partition for a London-focused study.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REFIT
(Loughborough, UK)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20 UK households, aggregate plus nine appliances per home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8-second,
2013 – 2015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Cross-check at a much finer resolution; used to test whether conclusions survive resampling.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UK-DALE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5 UK houses, whole-house plus appliance-level channels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1–6 second appliance,
from 2012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Small-client-count stress case; useful for testing behaviour when a client holds very little data.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EEF4FA"/>
                          </a:solidFill>
                          <a:latin typeface="Trebuchet MS"/>
                        </a:rPr>
                        <a:t>Pecan Street Dataport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US residential homes including solar PV and EV charging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1-minute / 15-minute,
licensed access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A4B5C6"/>
                          </a:solidFill>
                          <a:latin typeface="Trebuchet MS"/>
                        </a:rPr>
                        <a:t>Optional generalisation check on a different climate, tariff regime and appliance mix.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5797296"/>
            <a:ext cx="110029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6889E"/>
                </a:solidFill>
                <a:latin typeface="Trebuchet MS"/>
              </a:rPr>
              <a:t>One primary dataset is selected for the controlled experiment; the others are used only as robustness checks if time permits.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2.5  DATA ORGANISATION AND 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From raw meter readings to federated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Every client runs this identical pipeline locally — that is what keeps the comparison controlled.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1711909" cy="148132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8952" y="192024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94560"/>
            <a:ext cx="138272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4FA"/>
                </a:solidFill>
                <a:latin typeface="Trebuchet MS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505456"/>
            <a:ext cx="138272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4B5C6"/>
                </a:solidFill>
                <a:latin typeface="Trebuchet MS"/>
              </a:rPr>
              <a:t>Load raw meter files; parse timestamps to a single timezone.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2573" y="1737360"/>
            <a:ext cx="1711909" cy="148132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617165" y="192024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7165" y="2194560"/>
            <a:ext cx="138272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4FA"/>
                </a:solidFill>
                <a:latin typeface="Trebuchet MS"/>
              </a:rP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7165" y="2505456"/>
            <a:ext cx="138272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4B5C6"/>
                </a:solidFill>
                <a:latin typeface="Trebuchet MS"/>
              </a:rPr>
              <a:t>Flag dropouts, remove duplicate stamps, drop unusable meters.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0786" y="1737360"/>
            <a:ext cx="1711909" cy="148132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75378" y="192024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2194560"/>
            <a:ext cx="138272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4FA"/>
                </a:solidFill>
                <a:latin typeface="Trebuchet MS"/>
              </a:rPr>
              <a:t>RESAMPLE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2505456"/>
            <a:ext cx="138272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4B5C6"/>
                </a:solidFill>
                <a:latin typeface="Trebuchet MS"/>
              </a:rPr>
              <a:t>Fix all sources to one common interval; impute short gaps only.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737360"/>
            <a:ext cx="1711909" cy="148132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33591" y="192024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591" y="2194560"/>
            <a:ext cx="138272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4FA"/>
                </a:solidFill>
                <a:latin typeface="Trebuchet MS"/>
              </a:rPr>
              <a:t>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591" y="2505456"/>
            <a:ext cx="138272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4B5C6"/>
                </a:solidFill>
                <a:latin typeface="Trebuchet MS"/>
              </a:rPr>
              <a:t>Build sliding input/target pairs for the chosen horizon.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7212" y="1737360"/>
            <a:ext cx="1711909" cy="148132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91804" y="192024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804" y="2194560"/>
            <a:ext cx="138272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4FA"/>
                </a:solidFill>
                <a:latin typeface="Trebuchet MS"/>
              </a:rPr>
              <a:t>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804" y="2505456"/>
            <a:ext cx="138272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4B5C6"/>
                </a:solidFill>
                <a:latin typeface="Trebuchet MS"/>
              </a:rPr>
              <a:t>Fit the scaler on the client's own training split only.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85426" y="1737360"/>
            <a:ext cx="1711909" cy="148132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50018" y="1920240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0018" y="2194560"/>
            <a:ext cx="138272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EF4FA"/>
                </a:solidFill>
                <a:latin typeface="Trebuchet MS"/>
              </a:rPr>
              <a:t>PARTITION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0018" y="2505456"/>
            <a:ext cx="138272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4B5C6"/>
                </a:solidFill>
                <a:latin typeface="Trebuchet MS"/>
              </a:rPr>
              <a:t>Assign meters to clients by profile; split chronologically.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493008"/>
            <a:ext cx="5330952" cy="251460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86968" y="369417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DATABASES AND REPOSITORIES REFERRED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4059935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LITERATURE DATABASES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4297679"/>
            <a:ext cx="4754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EEF4FA"/>
                </a:solidFill>
                <a:latin typeface="Trebuchet MS"/>
              </a:rPr>
              <a:t>Scopus  ·  Web of Science  ·  IEEE Xplore  ·  ScienceDirect  ·  SpringerLink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" y="4809744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6889E"/>
                </a:solidFill>
                <a:latin typeface="Trebuchet MS"/>
              </a:rPr>
              <a:t>SMART-METER DATA REPOSITORIES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5047488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00">
                <a:solidFill>
                  <a:srgbClr val="EEF4FA"/>
                </a:solidFill>
                <a:latin typeface="Trebuchet MS"/>
              </a:rPr>
              <a:t>London Datastore / UK Data Service — Low Carbon London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00">
                <a:solidFill>
                  <a:srgbClr val="EEF4FA"/>
                </a:solidFill>
                <a:latin typeface="Trebuchet MS"/>
              </a:rPr>
              <a:t>UKERC Energy Data Centre — UK-DALE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00">
                <a:solidFill>
                  <a:srgbClr val="EEF4FA"/>
                </a:solidFill>
                <a:latin typeface="Trebuchet MS"/>
              </a:rPr>
              <a:t>University of Strathclyde repository — REFIT</a:t>
            </a:r>
          </a:p>
          <a:p>
            <a:pPr marL="182880" indent="-182880">
              <a:lnSpc>
                <a:spcPct val="112000"/>
              </a:lnSpc>
              <a:spcAft>
                <a:spcPts val="300"/>
              </a:spcAft>
            </a:pPr>
            <a:r>
              <a:rPr sz="10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00">
                <a:solidFill>
                  <a:srgbClr val="EEF4FA"/>
                </a:solidFill>
                <a:latin typeface="Trebuchet MS"/>
              </a:rPr>
              <a:t>Pecan Street Dataport — licensed research access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493008"/>
            <a:ext cx="5330952" cy="251460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56248" y="369417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KEY FINDINGS FROM THE DATA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6248" y="4059935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0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00">
                <a:solidFill>
                  <a:srgbClr val="A4B5C6"/>
                </a:solidFill>
                <a:latin typeface="Trebuchet MS"/>
              </a:rPr>
              <a:t>ACORN group labels in Low Carbon London let heterogeneity be constructed deliberately instead of at random — this is why it is the primary source.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0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00">
                <a:solidFill>
                  <a:srgbClr val="A4B5C6"/>
                </a:solidFill>
                <a:latin typeface="Trebuchet MS"/>
              </a:rPr>
              <a:t>Household series are spiky and near zero overnight, so MAPE alone is unsafe; MAE and RMSE must be reported alongside it.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0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00">
                <a:solidFill>
                  <a:srgbClr val="A4B5C6"/>
                </a:solidFill>
                <a:latin typeface="Trebuchet MS"/>
              </a:rPr>
              <a:t>Trial datasets contain meter dropouts and gaps, so cleaning must happen before windowing.</a:t>
            </a:r>
          </a:p>
          <a:p>
            <a:pPr marL="182880" indent="-182880">
              <a:lnSpc>
                <a:spcPct val="112000"/>
              </a:lnSpc>
              <a:spcAft>
                <a:spcPts val="600"/>
              </a:spcAft>
            </a:pPr>
            <a:r>
              <a:rPr sz="100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1000">
                <a:solidFill>
                  <a:srgbClr val="A4B5C6"/>
                </a:solidFill>
                <a:latin typeface="Trebuchet MS"/>
              </a:rPr>
              <a:t>Source resolutions differ by orders of magnitude, so a common interval is required for any cross-dataset claim.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EVALUATION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Exactly what will be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Named metrics, named baselines — so the Review-2 result is a table, not an opinion.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956815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6BEAA"/>
                </a:solidFill>
                <a:latin typeface="Trebuchet MS"/>
              </a:rPr>
              <a:t>MAE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340864"/>
            <a:ext cx="2971800" cy="475488"/>
          </a:xfrm>
          <a:prstGeom prst="roundRect">
            <a:avLst>
              <a:gd name="adj" fmla="val 1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340864"/>
            <a:ext cx="2971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(1 / n) · Σ | y − ŷ 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62656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Mean absolute error in kWh. Easy to interpret and robust to the near-zero periods that are common overnight.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737360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0" y="1956815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6BEAA"/>
                </a:solidFill>
                <a:latin typeface="Trebuchet MS"/>
              </a:rPr>
              <a:t>RMSE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340864"/>
            <a:ext cx="2971800" cy="475488"/>
          </a:xfrm>
          <a:prstGeom prst="roundRect">
            <a:avLst>
              <a:gd name="adj" fmla="val 1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0" y="2340864"/>
            <a:ext cx="2971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√( (1 / n) · Σ ( y − ŷ )²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62656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Penalises large misses more heavily, so it exposes failures at the evening peak — which is where forecasting errors actually cost money.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37360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75320" y="1956815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6BEAA"/>
                </a:solidFill>
                <a:latin typeface="Trebuchet MS"/>
              </a:rPr>
              <a:t>MAPE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340864"/>
            <a:ext cx="2971800" cy="475488"/>
          </a:xfrm>
          <a:prstGeom prst="roundRect">
            <a:avLst>
              <a:gd name="adj" fmla="val 1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75320" y="2340864"/>
            <a:ext cx="2971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EF4FA"/>
                </a:solidFill>
                <a:latin typeface="Trebuchet MS"/>
              </a:rPr>
              <a:t>(100 / n) · Σ | ( y − ŷ ) / y 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962656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A4B5C6"/>
                </a:solidFill>
                <a:latin typeface="Trebuchet MS"/>
              </a:rPr>
              <a:t>Scale-free, so households of different sizes can be compared — but it blows up as consumption approaches zero, so it is never reported alone.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14800"/>
            <a:ext cx="3502152" cy="169164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94360" y="4114800"/>
            <a:ext cx="50292" cy="1691640"/>
          </a:xfrm>
          <a:prstGeom prst="rect">
            <a:avLst/>
          </a:prstGeom>
          <a:solidFill>
            <a:srgbClr val="E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52544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A050"/>
                </a:solidFill>
                <a:latin typeface="Trebuchet MS"/>
              </a:rPr>
              <a:t>COMMUNICATION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00016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Rounds × clients per round × update size, reported as total bytes transferred and as error against cumulative communication.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114800"/>
            <a:ext cx="3502152" cy="169164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297680" y="4114800"/>
            <a:ext cx="50292" cy="1691640"/>
          </a:xfrm>
          <a:prstGeom prst="rect">
            <a:avLst/>
          </a:prstGeom>
          <a:solidFill>
            <a:srgbClr val="E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352544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A050"/>
                </a:solidFill>
                <a:latin typeface="Trebuchet MS"/>
              </a:rPr>
              <a:t>CONVERGENCE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00016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Training and validation loss plotted per communication round, for every arm, so the rate as well as the endpoint is visible.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4114800"/>
            <a:ext cx="3502152" cy="169164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01000" y="4114800"/>
            <a:ext cx="50292" cy="1691640"/>
          </a:xfrm>
          <a:prstGeom prst="rect">
            <a:avLst/>
          </a:prstGeom>
          <a:solidFill>
            <a:srgbClr val="E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352544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A050"/>
                </a:solidFill>
                <a:latin typeface="Trebuchet MS"/>
              </a:rPr>
              <a:t>NON-IID ROBUSTNESS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700016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50" b="0" i="0">
                <a:solidFill>
                  <a:srgbClr val="A4B5C6"/>
                </a:solidFill>
                <a:latin typeface="Trebuchet MS"/>
              </a:rPr>
              <a:t>Change in MAE, RMSE and MAPE as the heterogeneity of the client partition is increased from random to strictly profile-based.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EXPECTED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The deliverable is a filled-in comparison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10029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A4B5C6"/>
                </a:solidFill>
                <a:latin typeface="Trebuchet MS"/>
              </a:rPr>
              <a:t>No accuracy figure is promised in advance — the contribution is the measurement, not a claimed number.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737360"/>
          <a:ext cx="11274552" cy="2066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2057400"/>
                <a:gridCol w="1188720"/>
                <a:gridCol w="1188720"/>
                <a:gridCol w="1188720"/>
                <a:gridCol w="1636776"/>
                <a:gridCol w="1636776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Arm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Raw data leaves home?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MAE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RMSE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MAPE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Rounds to converge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46BEAA"/>
                          </a:solidFill>
                          <a:latin typeface="Trebuchet MS"/>
                        </a:rPr>
                        <a:t>Bytes transferred</a:t>
                      </a:r>
                    </a:p>
                  </a:txBody>
                  <a:tcPr marL="73152" marR="73152" marT="41148" marB="41148" anchor="ctr">
                    <a:solidFill>
                      <a:srgbClr val="1A283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EEF4FA"/>
                          </a:solidFill>
                          <a:latin typeface="Trebuchet MS"/>
                        </a:rPr>
                        <a:t>Local-only LSTM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No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n/a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0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EEF4FA"/>
                          </a:solidFill>
                          <a:latin typeface="Trebuchet MS"/>
                        </a:rPr>
                        <a:t>Centralised LSTM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Yes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n/a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full dataset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EEF4FA"/>
                          </a:solidFill>
                          <a:latin typeface="Trebuchet MS"/>
                        </a:rPr>
                        <a:t>FedAvg LSTM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No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14203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EEF4FA"/>
                          </a:solidFill>
                          <a:latin typeface="Trebuchet MS"/>
                        </a:rPr>
                        <a:t>FedProx LSTM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No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A4B5C6"/>
                          </a:solidFill>
                          <a:latin typeface="Trebuchet MS"/>
                        </a:rPr>
                        <a:t>—</a:t>
                      </a:r>
                    </a:p>
                  </a:txBody>
                  <a:tcPr marL="73152" marR="73152" marT="41148" marB="41148" anchor="ctr">
                    <a:solidFill>
                      <a:srgbClr val="0A121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3895344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76889E"/>
                </a:solidFill>
                <a:latin typeface="Trebuchet MS"/>
              </a:rPr>
              <a:t>Every dash is a cell this project exists to fill. The first two columns are already known — they are the reason the study is worth running.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206240"/>
            <a:ext cx="3502152" cy="2084831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4407407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ARTEFACTS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36592"/>
            <a:ext cx="301752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Cleaned, windowed household dataset with a documented pipeline.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Local-only and centralised LSTM baselines.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FedAvg federated prototype built on Flower and PyTorch.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FedProx extension with a tuned proximal coefficient.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206240"/>
            <a:ext cx="3502152" cy="2084831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0" y="4407407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36592"/>
            <a:ext cx="301752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Accuracy table across all four arms under one protocol.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Convergence curves per communication round.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Error-versus-bandwidth curve identifying the useful operating point.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Degradation curve as client heterogeneity increases.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206240"/>
            <a:ext cx="3502152" cy="2084831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5320" y="4407407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THE ARGUMENT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736592"/>
            <a:ext cx="301752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Where federation gets close to centralised accuracy — and where it does not.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What non-IID households actually cost in kWh of error.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Whether FedProx earns its extra complexity over FedAvg.</a:t>
            </a:r>
          </a:p>
          <a:p>
            <a:pPr marL="182880" indent="-182880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46BEAA"/>
                </a:solidFill>
                <a:latin typeface="Trebuchet MS"/>
              </a:rPr>
              <a:t>▪  </a:t>
            </a:r>
            <a:r>
              <a:rPr sz="950">
                <a:solidFill>
                  <a:srgbClr val="A4B5C6"/>
                </a:solidFill>
                <a:latin typeface="Trebuchet MS"/>
              </a:rPr>
              <a:t>A negative result here is still a result worth reporting.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89888"/>
            <a:ext cx="5330952" cy="129844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389888"/>
            <a:ext cx="50292" cy="1298448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0934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EEF4FA"/>
                </a:solidFill>
                <a:latin typeface="Trebuchet MS"/>
              </a:rPr>
              <a:t>London needs better short-term household load forecasts, but its housing stock makes demand heterogeneous and its consent rules make central pooling hard.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330952" cy="129844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63640" y="1389888"/>
            <a:ext cx="50292" cy="1298448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60934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THE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93852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EEF4FA"/>
                </a:solidFill>
                <a:latin typeface="Trebuchet MS"/>
              </a:rPr>
              <a:t>Treat every household as a federated client. Train one shared LSTM through FedAvg, and use FedProx where household profiles diverge. Only weights move.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71216"/>
            <a:ext cx="5330952" cy="129844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94360" y="2871216"/>
            <a:ext cx="50292" cy="1298448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09067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6BEAA"/>
                </a:solidFill>
                <a:latin typeface="Trebuchet MS"/>
              </a:rPr>
              <a:t>THE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41985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EEF4FA"/>
                </a:solidFill>
                <a:latin typeface="Trebuchet MS"/>
              </a:rPr>
              <a:t>Not a new architecture — a controlled four-arm comparison that measures what federation and heterogeneity actually cost in forecasting error and bandwidth.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871216"/>
            <a:ext cx="5330952" cy="1298448"/>
          </a:xfrm>
          <a:prstGeom prst="roundRect">
            <a:avLst>
              <a:gd name="adj" fmla="val 5000"/>
            </a:avLst>
          </a:prstGeom>
          <a:solidFill>
            <a:srgbClr val="142030"/>
          </a:solidFill>
          <a:ln w="12700">
            <a:solidFill>
              <a:srgbClr val="2537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263640" y="2871216"/>
            <a:ext cx="50292" cy="1298448"/>
          </a:xfrm>
          <a:prstGeom prst="rect">
            <a:avLst/>
          </a:prstGeom>
          <a:solidFill>
            <a:srgbClr val="E0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09067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A050"/>
                </a:solidFill>
                <a:latin typeface="Trebuchet MS"/>
              </a:rPr>
              <a:t>THE HONESTY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1985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 i="0">
                <a:solidFill>
                  <a:srgbClr val="EEF4FA"/>
                </a:solidFill>
                <a:latin typeface="Trebuchet MS"/>
              </a:rPr>
              <a:t>Federated learning gives data locality, not formal privacy. We will say so, and name differential privacy and secure aggregation as the next step, not as a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517136"/>
            <a:ext cx="11002975" cy="1188720"/>
          </a:xfrm>
          <a:prstGeom prst="roundRect">
            <a:avLst>
              <a:gd name="adj" fmla="val 5000"/>
            </a:avLst>
          </a:prstGeom>
          <a:solidFill>
            <a:srgbClr val="1A283C"/>
          </a:solidFill>
          <a:ln w="12700">
            <a:solidFill>
              <a:srgbClr val="46B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560" y="4736592"/>
            <a:ext cx="100885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EEF4FA"/>
                </a:solidFill>
                <a:latin typeface="Trebuchet MS"/>
              </a:rPr>
              <a:t>The city gets a forecasting model trained on thousands of homes,</a:t>
            </a:r>
          </a:p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EEF4FA"/>
                </a:solidFill>
                <a:latin typeface="Trebuchet MS"/>
              </a:rPr>
              <a:t>without ever holding the data of a single one of them.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27 peer-reviewed journal articles, 2022–2026  —  part 1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0744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Fernández, J. D., Menci, S. P., Lee, C. M., Rieger, A., &amp; Fridgen, G. (2022). Privacy-preserving federated learning for residential short-term load forecasting. Applied Energy, 326, 119915.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7568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Fekri, M. N., Grolinger, K., &amp; Mir, S. (2022). Distributed load forecasting using smart meter data: federated learning with recurrent neural networks. Int. J. Electrical Power &amp; Energy Systems, 137, 107669.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7977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70632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Gholizadeh, N., &amp; Musilek, P. (2022). Federated learning with hyperparameter-based clustering for electrical load forecasting. Internet of Things, 17, 100470.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65576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Yang, Y., Wang, Z., Zhao, S., &amp; Wu, J. (2023). An integrated federated learning algorithm for short-term load forecasting. Electric Power Systems Research, 214, 108830.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966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Liu, Y., Dong, Z., Liu, B., Xu, Y., &amp; Ding, Z. (2023). FedForecast: a federated learning framework for short-term probabilistic individual load forecasting in smart grid. IJEPES, 152, 109172.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55464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Fekri, M. N., Grolinger, K., &amp; Mir, S. (2023). Asynchronous adaptive federated learning for distributed load forecasting with smart meter data. IJEPES, 153, 109285.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5955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5040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Qu, X., Guan, C., Xie, G., Tian, Z., Sood, K., Sun, C., &amp; Cui, L. (2023). Personalized federated learning for heterogeneous residential load forecasting. Big Data Mining and Analytics, 6(4), 421–432.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3898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380744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Wang, R., Yun, H., Rayhana, R., Bin, J., Zhang, C., Herrera, O. E., Liu, Z., &amp; Mérida, W. (2023). An adaptive federated learning system for community building energy load forecasting and anomaly prediction. Energy and Buildings, 295, 113215.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08483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07568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Khalil, M., Esseghir, M., &amp; Merghem Boulahia, L. (2023). Privacy-preserving federated learning: an application for big data load forecast in buildings. Computers &amp; Security, 131, 103211.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7977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70632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Widmer, F., Nowak, S., Bowler, B., Huber, P., &amp; Papaemmanouil, A. (2023). Data-driven comparison of federated learning and model personalization for electric load forecasting. Energy and AI, 14, 100253.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747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65576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Dogra, S., et al. (2023). Consumers profiling based federated learning approach for energy load forecasting. Sustainable Cities and Society, 98, 104815.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16966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[12]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160520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Xiao, J.-W., et al. (2023). Joint load prediction of multiple buildings using multi-task learning with a selected-shared-private mechanism. Energy and Buildings, 293, 113178.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8646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[13]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55464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Dab, K., et al. (2023). Consensus-based time-series clustering approach to short-term load forecasting for residential electricity demand. Energy and Buildings, 299, 113550.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55955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[14]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55040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de Moraes Sarmento, E. M., et al. (2024). Forecasting energy power consumption using federated learning in edge computing devices. Internet of Things, 25, 101050.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428232"/>
            <a:ext cx="68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28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6889E"/>
                </a:solidFill>
                <a:latin typeface="Trebuchet MS"/>
              </a:rPr>
              <a:t>Federated LSTM for Household Load Forecasting  ·  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65760"/>
            <a:ext cx="50292" cy="274320"/>
          </a:xfrm>
          <a:prstGeom prst="rect">
            <a:avLst/>
          </a:prstGeom>
          <a:solidFill>
            <a:srgbClr val="46B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4747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6BEAA"/>
                </a:solidFill>
                <a:latin typeface="Trebuchet MS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76656"/>
            <a:ext cx="1100297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EF4FA"/>
                </a:solidFill>
                <a:latin typeface="Trebuchet MS"/>
              </a:rPr>
              <a:t>27 peer-reviewed journal articles, 2022–2026  —  part 2 of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898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[15]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80744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Abdulla, N., Demirci, M., &amp; Ozdemir, S. (2024). Smart meter-based energy consumption forecasting for smart cities using adaptive federated learning. Sustainable Energy, Grids and Networks, 38, 101342.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7568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Singh, G., &amp; Bedi, J. (2024). A federated and transfer learning based approach for households load forecasting. Knowledge-Based Systems, 299, 111967.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7977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[17]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70632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Manzoor, H. U., Jafri, A., &amp; Zoha, A. (2024). Adaptive single-layer aggregation framework for energy-efficient and privacy-preserving load forecasting in heterogeneous federated smart grids. Internet of Things, 28, 101376.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[18]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65576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Mao, Q., Wang, L., Long, Y., Han, L., Wang, Z., &amp; Chen, K. (2024). A blockchain-based framework for federated learning with privacy preservation in power load forecasting. Knowledge-Based Systems, 284, 111338.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966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[19]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60520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Aurangzeb, K., Haider, S. I., &amp; Alhussein, M. (2024). Individual household load forecasting using bidirectional LSTM network with time-based embedding. Energy Reports, 11, 3963–3975.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[20]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55464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Huang, Y., Song, Y., &amp; Jing, Z. (2024). Load forecasting using federated learning with consideration of electricity data privacy preservation of EASP. Ain Shams Engineering Journal, 15, 102724.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5955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[21]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5040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Mostafanezhad, M., Mohammadi, M., Keihan Asl, D., &amp; Karimipour, H. (2025). Personalized poison-attack tolerant federated learning for residential load forecasting. Sustainable Energy, Grids and Networks, 43, 101794.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3898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[22]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380744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Kaur, I., Bedi, J., &amp; Aggarwal, A. (2025). Privacy preserving and computationally efficient federated learning approach for household load estimation. Sustainable Energy, Grids and Networks, 44, 102021.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08483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[23]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075688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Shao, L., Pang, K., Feng, C., Yang, Y., &amp; Wen, F. (2026). Privacy-preserving residential short-term load forecasting with missing data tolerance. IEEE Transactions on Smart Grid, 17(2), 1664–1679.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7977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[24]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70632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Das, P., Pandey, S., Pandey, C., &amp; Kumar, D. (2026). Heterogeneity-aware personalised federated learning for household energy forecasting on multi-source real-world smart meter data. Scientific Reports, 16, 24957.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7472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[25]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65576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Wang, J., Xu, D., Xing, L., Chen, T., Liu, Y., Shahidehpour, M., &amp; Yang, T. (2026). Personalized federated learning with mixture of experts and conformal prediction for household energy forecasting. Expert Systems with Applications, 300, 130417.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16966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[26]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160520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Tibermacine, A., et al. (2026). Privacy-preserving load forecasting in smart grids using federated learning: a comparative analysis of aggregation strategies. Frontiers in Energy Research, 14, 1854654.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86460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6BEAA"/>
                </a:solidFill>
                <a:latin typeface="Trebuchet MS"/>
              </a:rPr>
              <a:t>[27]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55464"/>
            <a:ext cx="49194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A4B5C6"/>
                </a:solidFill>
                <a:latin typeface="Trebuchet MS"/>
              </a:rPr>
              <a:t>He, Z., Zhang, H., Liu, Y., et al. (2026). Privacy-preserving electricity load forecasting using hierarchical federated learning. Journal of Information and Intelligence, 4(4), 350–363.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